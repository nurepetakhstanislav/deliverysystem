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5c05f9f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5c05f9f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5c05f9f2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5c05f9f2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5c05f9f25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5c05f9f2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5c05f9f25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5c05f9f25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5c05f9f25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5c05f9f25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5c05f9f25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5c05f9f25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5c05f9f25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5c05f9f25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5c05f9f25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5c05f9f25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5c05f9f25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e5c05f9f25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5c05f9f25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e5c05f9f25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05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uk" sz="4080"/>
              <a:t>Програмна система управління доставкою для кур'єрської служби</a:t>
            </a:r>
            <a:endParaRPr sz="4080"/>
          </a:p>
        </p:txBody>
      </p:sp>
      <p:sp>
        <p:nvSpPr>
          <p:cNvPr id="55" name="Google Shape;55;p13"/>
          <p:cNvSpPr txBox="1"/>
          <p:nvPr>
            <p:ph idx="1" type="subTitle"/>
          </p:nvPr>
        </p:nvSpPr>
        <p:spPr>
          <a:xfrm>
            <a:off x="311700" y="2795125"/>
            <a:ext cx="8520600" cy="16428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uk"/>
              <a:t>Д</a:t>
            </a:r>
            <a:r>
              <a:rPr lang="uk"/>
              <a:t>оцент кафедри ПІ Наталя Кравець</a:t>
            </a:r>
            <a:endParaRPr/>
          </a:p>
          <a:p>
            <a:pPr indent="0" lvl="0" marL="0" rtl="0" algn="ctr">
              <a:lnSpc>
                <a:spcPct val="100000"/>
              </a:lnSpc>
              <a:spcBef>
                <a:spcPts val="0"/>
              </a:spcBef>
              <a:spcAft>
                <a:spcPts val="0"/>
              </a:spcAft>
              <a:buNone/>
            </a:pPr>
            <a:r>
              <a:rPr lang="uk"/>
              <a:t>Студент групи ПЗПІ-23-2 Петах Станіслав</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Аналіз предметної галузі</a:t>
            </a:r>
            <a:endParaRPr/>
          </a:p>
        </p:txBody>
      </p:sp>
      <p:sp>
        <p:nvSpPr>
          <p:cNvPr id="61" name="Google Shape;61;p14"/>
          <p:cNvSpPr txBox="1"/>
          <p:nvPr>
            <p:ph idx="1" type="body"/>
          </p:nvPr>
        </p:nvSpPr>
        <p:spPr>
          <a:xfrm>
            <a:off x="311700" y="1152475"/>
            <a:ext cx="8520600" cy="3707400"/>
          </a:xfrm>
          <a:prstGeom prst="rect">
            <a:avLst/>
          </a:prstGeom>
        </p:spPr>
        <p:txBody>
          <a:bodyPr anchorCtr="0" anchor="t" bIns="91425" lIns="91425" spcFirstLastPara="1" rIns="91425" wrap="square" tIns="91425">
            <a:normAutofit/>
          </a:bodyPr>
          <a:lstStyle/>
          <a:p>
            <a:pPr indent="457200" lvl="0" marL="0" rtl="0" algn="l">
              <a:spcBef>
                <a:spcPts val="0"/>
              </a:spcBef>
              <a:spcAft>
                <a:spcPts val="0"/>
              </a:spcAft>
              <a:buNone/>
            </a:pPr>
            <a:r>
              <a:rPr lang="uk">
                <a:solidFill>
                  <a:schemeClr val="dk1"/>
                </a:solidFill>
              </a:rPr>
              <a:t>За останні роки, попит на замовлення товарів онлайн суттєво зріс, що робить дану предметну область актуальною. Така тенденція зумовлена масовою технологізацією суспільства, а також наслідками пандемії 2020 року, яка значно вплинула на зміну поведінки споживачів і збільшення використання електронних сервісів.</a:t>
            </a:r>
            <a:endParaRPr>
              <a:solidFill>
                <a:schemeClr val="dk1"/>
              </a:solidFill>
            </a:endParaRPr>
          </a:p>
          <a:p>
            <a:pPr indent="457200" lvl="0" marL="0" rtl="0" algn="l">
              <a:spcBef>
                <a:spcPts val="0"/>
              </a:spcBef>
              <a:spcAft>
                <a:spcPts val="0"/>
              </a:spcAft>
              <a:buNone/>
            </a:pPr>
            <a:r>
              <a:rPr lang="uk">
                <a:solidFill>
                  <a:schemeClr val="dk1"/>
                </a:solidFill>
              </a:rPr>
              <a:t>У зв’язку зі зростанням попиту підвищується роль кур’єрів у логістичних системах. У багатьох випадках кур’єри виступають незалежними виконавцями, а не штатними працівниками компаній, що означає відсутність прямої відповідальності роботодавця за процес виконання доставки, а також мінімізацію забезпечення ресурсами. Водночас така модель надає кур’єрам гнучкість у виборі часу роботи та прийнятті замовлень.</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Аналіз предметної галузі</a:t>
            </a:r>
            <a:endParaRPr/>
          </a:p>
        </p:txBody>
      </p:sp>
      <p:sp>
        <p:nvSpPr>
          <p:cNvPr id="67" name="Google Shape;67;p15"/>
          <p:cNvSpPr txBox="1"/>
          <p:nvPr>
            <p:ph idx="1" type="body"/>
          </p:nvPr>
        </p:nvSpPr>
        <p:spPr>
          <a:xfrm>
            <a:off x="311700" y="1152475"/>
            <a:ext cx="8520600" cy="3707400"/>
          </a:xfrm>
          <a:prstGeom prst="rect">
            <a:avLst/>
          </a:prstGeom>
        </p:spPr>
        <p:txBody>
          <a:bodyPr anchorCtr="0" anchor="t" bIns="91425" lIns="91425" spcFirstLastPara="1" rIns="91425" wrap="square" tIns="91425">
            <a:normAutofit/>
          </a:bodyPr>
          <a:lstStyle/>
          <a:p>
            <a:pPr indent="457200" lvl="0" marL="0" rtl="0" algn="l">
              <a:spcBef>
                <a:spcPts val="0"/>
              </a:spcBef>
              <a:spcAft>
                <a:spcPts val="0"/>
              </a:spcAft>
              <a:buNone/>
            </a:pPr>
            <a:r>
              <a:rPr lang="uk">
                <a:solidFill>
                  <a:schemeClr val="dk1"/>
                </a:solidFill>
              </a:rPr>
              <a:t>Сучасні системи доставок їжі є складними логістичними системами, що забезпечують швидке переміщення замовлень від закладів харчування до кінцевих споживачів.</a:t>
            </a:r>
            <a:endParaRPr>
              <a:solidFill>
                <a:schemeClr val="dk1"/>
              </a:solidFill>
            </a:endParaRPr>
          </a:p>
          <a:p>
            <a:pPr indent="457200" lvl="0" marL="0" rtl="0" algn="l">
              <a:spcBef>
                <a:spcPts val="0"/>
              </a:spcBef>
              <a:spcAft>
                <a:spcPts val="0"/>
              </a:spcAft>
              <a:buNone/>
            </a:pPr>
            <a:r>
              <a:rPr lang="uk">
                <a:solidFill>
                  <a:schemeClr val="dk1"/>
                </a:solidFill>
              </a:rPr>
              <a:t>Основними перешкодами та труднощами у сфері доставки є неефективні маршрути, проблема «останньої милі», людський фактор, нерівномірний розподіл замовлень, складність прогнозування часу доставки та географічні особливості місцевості.</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Постановка задачі</a:t>
            </a:r>
            <a:endParaRPr/>
          </a:p>
        </p:txBody>
      </p:sp>
      <p:sp>
        <p:nvSpPr>
          <p:cNvPr id="73" name="Google Shape;73;p16"/>
          <p:cNvSpPr txBox="1"/>
          <p:nvPr>
            <p:ph idx="1" type="body"/>
          </p:nvPr>
        </p:nvSpPr>
        <p:spPr>
          <a:xfrm>
            <a:off x="311700" y="1152475"/>
            <a:ext cx="8520600" cy="3707400"/>
          </a:xfrm>
          <a:prstGeom prst="rect">
            <a:avLst/>
          </a:prstGeom>
        </p:spPr>
        <p:txBody>
          <a:bodyPr anchorCtr="0" anchor="t" bIns="91425" lIns="91425" spcFirstLastPara="1" rIns="91425" wrap="square" tIns="91425">
            <a:normAutofit/>
          </a:bodyPr>
          <a:lstStyle/>
          <a:p>
            <a:pPr indent="457200" lvl="0" marL="0" rtl="0" algn="l">
              <a:spcBef>
                <a:spcPts val="0"/>
              </a:spcBef>
              <a:spcAft>
                <a:spcPts val="0"/>
              </a:spcAft>
              <a:buNone/>
            </a:pPr>
            <a:r>
              <a:rPr lang="uk">
                <a:solidFill>
                  <a:schemeClr val="dk1"/>
                </a:solidFill>
              </a:rPr>
              <a:t>Для забезпечення ефективної та стабільної доставки </a:t>
            </a:r>
            <a:r>
              <a:rPr lang="uk">
                <a:solidFill>
                  <a:schemeClr val="dk1"/>
                </a:solidFill>
              </a:rPr>
              <a:t>замовлень необхідно</a:t>
            </a:r>
            <a:r>
              <a:rPr lang="uk">
                <a:solidFill>
                  <a:schemeClr val="dk1"/>
                </a:solidFill>
              </a:rPr>
              <a:t> розробити програмну систему управління процесом доставки. Система повинна забезпечувати облік замовлень, автоматизований вибір доступних кур’єрів та розрахунок маршрутів між пунктами доставки.</a:t>
            </a:r>
            <a:endParaRPr>
              <a:solidFill>
                <a:schemeClr val="dk1"/>
              </a:solidFill>
            </a:endParaRPr>
          </a:p>
          <a:p>
            <a:pPr indent="457200" lvl="0" marL="0" rtl="0" algn="l">
              <a:spcBef>
                <a:spcPts val="0"/>
              </a:spcBef>
              <a:spcAft>
                <a:spcPts val="0"/>
              </a:spcAft>
              <a:buNone/>
            </a:pPr>
            <a:r>
              <a:rPr lang="uk">
                <a:solidFill>
                  <a:schemeClr val="dk1"/>
                </a:solidFill>
              </a:rPr>
              <a:t>У межах системи необхідно реалізувати механізм визначення оптимального маршруту з урахуванням відстаней між точками міста, а також можливих обмежень на шляху.</a:t>
            </a:r>
            <a:endParaRPr>
              <a:solidFill>
                <a:schemeClr val="dk1"/>
              </a:solidFill>
            </a:endParaRPr>
          </a:p>
          <a:p>
            <a:pPr indent="457200" lvl="0" marL="0" rtl="0" algn="l">
              <a:spcBef>
                <a:spcPts val="0"/>
              </a:spcBef>
              <a:spcAft>
                <a:spcPts val="0"/>
              </a:spcAft>
              <a:buNone/>
            </a:pPr>
            <a:r>
              <a:rPr lang="uk">
                <a:solidFill>
                  <a:schemeClr val="dk1"/>
                </a:solidFill>
              </a:rPr>
              <a:t>Розроблювана система має підтримувати керування основними процесами доставки, включаючи призначення кур’єра, відстеження стану замовлення та обробку інформації про виконані доставки.</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Архітектура ПЗ</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57200" lvl="0" marL="0" rtl="0" algn="l">
              <a:spcBef>
                <a:spcPts val="0"/>
              </a:spcBef>
              <a:spcAft>
                <a:spcPts val="0"/>
              </a:spcAft>
              <a:buNone/>
            </a:pPr>
            <a:r>
              <a:rPr lang="uk">
                <a:solidFill>
                  <a:schemeClr val="dk1"/>
                </a:solidFill>
              </a:rPr>
              <a:t>Проєкт є системою управління процесом доставки замовлень. До функціоналу належать формування замовлень, розрахунок маршрутів і часу доставки, фіксація виконання та затримок під час виконання замовлення, а також обчислення вартості доставки і винагороди кур’єра з урахуванням різних умов (відстань, час, погодні фактори).</a:t>
            </a:r>
            <a:endParaRPr>
              <a:solidFill>
                <a:schemeClr val="dk1"/>
              </a:solidFill>
            </a:endParaRPr>
          </a:p>
          <a:p>
            <a:pPr indent="457200" lvl="0" marL="0" rtl="0" algn="l">
              <a:spcBef>
                <a:spcPts val="0"/>
              </a:spcBef>
              <a:spcAft>
                <a:spcPts val="0"/>
              </a:spcAft>
              <a:buNone/>
            </a:pPr>
            <a:r>
              <a:rPr lang="uk">
                <a:solidFill>
                  <a:schemeClr val="dk1"/>
                </a:solidFill>
              </a:rPr>
              <a:t>Для реалізації системи було обрано трирівневу архітектуру (3-tier architecture), яка передбачає розподіл функціональності на окремі рівні відповідальності та їх взаємодію через бізнес-логіку. Архітектура включає такі рівні: рівень представлення, рівень бізнес-логіки та рівень доступу до даних.</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Проектування ПЗ </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57200" lvl="0" marL="0" rtl="0" algn="l">
              <a:spcBef>
                <a:spcPts val="0"/>
              </a:spcBef>
              <a:spcAft>
                <a:spcPts val="0"/>
              </a:spcAft>
              <a:buNone/>
            </a:pPr>
            <a:r>
              <a:rPr lang="uk">
                <a:solidFill>
                  <a:schemeClr val="dk1"/>
                </a:solidFill>
              </a:rPr>
              <a:t>Для даного проєкту використовується реляційна база даних, що забезпечує цілісність даних за рахунок зв’язків між таблицями, уникнення дублювання інформації та спрощення модифікацію структури системи.</a:t>
            </a:r>
            <a:endParaRPr>
              <a:solidFill>
                <a:schemeClr val="dk1"/>
              </a:solidFill>
            </a:endParaRPr>
          </a:p>
          <a:p>
            <a:pPr indent="457200" lvl="0" marL="0" rtl="0" algn="l">
              <a:spcBef>
                <a:spcPts val="0"/>
              </a:spcBef>
              <a:spcAft>
                <a:spcPts val="0"/>
              </a:spcAft>
              <a:buNone/>
            </a:pPr>
            <a:r>
              <a:rPr lang="uk">
                <a:solidFill>
                  <a:schemeClr val="dk1"/>
                </a:solidFill>
              </a:rPr>
              <a:t>База даних зберігає наступні таблиці: вулиці, дороги, кур’єри, замовлення, продукти, предмети та адміни. Дані з таблиць вулиць, кур'єрів, продуктів і предметів використовуються для формування та відображення інформації про замовлення. Таблиця адміністраторів містить дані облікових записів, необхідні для реалізації функціоналу реєстрації та авторизації. Таблиця доріг зберігає інформацію про з’єднання між вулицями та використовується для визначення шляху між пунктами доставки.</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Проектування ПЗ</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57200" lvl="0" marL="0" rtl="0" algn="l">
              <a:spcBef>
                <a:spcPts val="0"/>
              </a:spcBef>
              <a:spcAft>
                <a:spcPts val="0"/>
              </a:spcAft>
              <a:buNone/>
            </a:pPr>
            <a:r>
              <a:rPr lang="uk">
                <a:solidFill>
                  <a:schemeClr val="dk1"/>
                </a:solidFill>
              </a:rPr>
              <a:t>Для визначення оптимального маршруту використовується алгоритм пошуку шляху між контрольними точками з урахуванням складності доріг. На початку система отримує місцезнаходження замовлення та замовника, після чого розраховує відстань і орієнтовний час доставки. На основі цих даних визначається вартість доставки та винагорода кур’єра. </a:t>
            </a:r>
            <a:endParaRPr>
              <a:solidFill>
                <a:schemeClr val="dk1"/>
              </a:solidFill>
            </a:endParaRPr>
          </a:p>
          <a:p>
            <a:pPr indent="457200" lvl="0" marL="0" rtl="0" algn="l">
              <a:spcBef>
                <a:spcPts val="0"/>
              </a:spcBef>
              <a:spcAft>
                <a:spcPts val="0"/>
              </a:spcAft>
              <a:buNone/>
            </a:pPr>
            <a:r>
              <a:rPr lang="uk">
                <a:solidFill>
                  <a:schemeClr val="dk1"/>
                </a:solidFill>
              </a:rPr>
              <a:t>Далі система виконує пошук найближчого вільного кур’єра та надсилає йому запит на виконання замовлення. У разі відмови запит послідовно передається наступним доступним кур’єрам. Після прийняття замовлення кур’єром система враховує його поточне місцезнаходження та розраховує загальний маршрут і час виконання доставки.</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Засоби розробки </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57200" lvl="0" marL="0" rtl="0" algn="l">
              <a:spcBef>
                <a:spcPts val="0"/>
              </a:spcBef>
              <a:spcAft>
                <a:spcPts val="0"/>
              </a:spcAft>
              <a:buNone/>
            </a:pPr>
            <a:r>
              <a:rPr lang="uk">
                <a:solidFill>
                  <a:schemeClr val="dk1"/>
                </a:solidFill>
              </a:rPr>
              <a:t>Для розробки програмної системи використовувалась мова програмування C# та платформа .NET.</a:t>
            </a:r>
            <a:endParaRPr>
              <a:solidFill>
                <a:schemeClr val="dk1"/>
              </a:solidFill>
            </a:endParaRPr>
          </a:p>
          <a:p>
            <a:pPr indent="457200" lvl="0" marL="0" rtl="0" algn="l">
              <a:spcBef>
                <a:spcPts val="0"/>
              </a:spcBef>
              <a:spcAft>
                <a:spcPts val="0"/>
              </a:spcAft>
              <a:buNone/>
            </a:pPr>
            <a:r>
              <a:rPr lang="uk">
                <a:solidFill>
                  <a:schemeClr val="dk1"/>
                </a:solidFill>
              </a:rPr>
              <a:t>Графічний інтерфейс реалізовано за допомогою Windows Forms. Для збереження даних використовується реляційна база даних SQL Server.</a:t>
            </a:r>
            <a:endParaRPr>
              <a:solidFill>
                <a:schemeClr val="dk1"/>
              </a:solidFill>
            </a:endParaRPr>
          </a:p>
          <a:p>
            <a:pPr indent="457200" lvl="0" marL="0" rtl="0" algn="l">
              <a:spcBef>
                <a:spcPts val="0"/>
              </a:spcBef>
              <a:spcAft>
                <a:spcPts val="0"/>
              </a:spcAft>
              <a:buNone/>
            </a:pPr>
            <a:r>
              <a:rPr lang="uk">
                <a:solidFill>
                  <a:schemeClr val="dk1"/>
                </a:solidFill>
              </a:rPr>
              <a:t>Розробка виконувалась у середовищі Microsoft Visual Studio. Для контролю версій та зберігання проєкту використовувався GitHub.</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Приклади екранних форм</a:t>
            </a:r>
            <a:endParaRPr/>
          </a:p>
        </p:txBody>
      </p:sp>
      <p:sp>
        <p:nvSpPr>
          <p:cNvPr id="103" name="Google Shape;103;p21"/>
          <p:cNvSpPr txBox="1"/>
          <p:nvPr>
            <p:ph idx="1" type="body"/>
          </p:nvPr>
        </p:nvSpPr>
        <p:spPr>
          <a:xfrm>
            <a:off x="311700" y="4237425"/>
            <a:ext cx="8520600" cy="436800"/>
          </a:xfrm>
          <a:prstGeom prst="rect">
            <a:avLst/>
          </a:prstGeom>
        </p:spPr>
        <p:txBody>
          <a:bodyPr anchorCtr="0" anchor="t" bIns="91425" lIns="91425" spcFirstLastPara="1" rIns="91425" wrap="square" tIns="91425">
            <a:normAutofit fontScale="92500"/>
          </a:bodyPr>
          <a:lstStyle/>
          <a:p>
            <a:pPr indent="0" lvl="0" marL="0" rtl="0" algn="ctr">
              <a:spcBef>
                <a:spcPts val="0"/>
              </a:spcBef>
              <a:spcAft>
                <a:spcPts val="0"/>
              </a:spcAft>
              <a:buNone/>
            </a:pPr>
            <a:r>
              <a:rPr lang="uk">
                <a:solidFill>
                  <a:schemeClr val="dk1"/>
                </a:solidFill>
              </a:rPr>
              <a:t>Головна форма відображення замовлень</a:t>
            </a:r>
            <a:endParaRPr>
              <a:solidFill>
                <a:schemeClr val="dk1"/>
              </a:solidFill>
            </a:endParaRPr>
          </a:p>
        </p:txBody>
      </p:sp>
      <p:pic>
        <p:nvPicPr>
          <p:cNvPr id="104" name="Google Shape;104;p21"/>
          <p:cNvPicPr preferRelativeResize="0"/>
          <p:nvPr/>
        </p:nvPicPr>
        <p:blipFill>
          <a:blip r:embed="rId3">
            <a:alphaModFix/>
          </a:blip>
          <a:stretch>
            <a:fillRect/>
          </a:stretch>
        </p:blipFill>
        <p:spPr>
          <a:xfrm>
            <a:off x="1429087" y="1303350"/>
            <a:ext cx="6285826" cy="2820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Аналіз результатів</a:t>
            </a:r>
            <a:endParaRPr/>
          </a:p>
        </p:txBody>
      </p:sp>
      <p:sp>
        <p:nvSpPr>
          <p:cNvPr id="110" name="Google Shape;110;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457200" lvl="0" marL="0" rtl="0" algn="l">
              <a:spcBef>
                <a:spcPts val="0"/>
              </a:spcBef>
              <a:spcAft>
                <a:spcPts val="0"/>
              </a:spcAft>
              <a:buClr>
                <a:schemeClr val="dk1"/>
              </a:buClr>
              <a:buSzPts val="1100"/>
              <a:buFont typeface="Arial"/>
              <a:buNone/>
            </a:pPr>
            <a:r>
              <a:rPr lang="uk">
                <a:solidFill>
                  <a:schemeClr val="dk1"/>
                </a:solidFill>
              </a:rPr>
              <a:t>Реалізована система дозволяє </a:t>
            </a:r>
            <a:r>
              <a:rPr lang="uk">
                <a:solidFill>
                  <a:schemeClr val="dk1"/>
                </a:solidFill>
              </a:rPr>
              <a:t>обробляти </a:t>
            </a:r>
            <a:r>
              <a:rPr lang="uk">
                <a:solidFill>
                  <a:schemeClr val="dk1"/>
                </a:solidFill>
              </a:rPr>
              <a:t>замовлення, призначати кур’єрів, а також здійснювати розрахунок маршруту між точками доставки з урахуванням дорожньої структури міста. Взаємодія з даними реалізована через реляційну базу даних, що забезпечує їх цілісність та структуроване зберігання.</a:t>
            </a:r>
            <a:endParaRPr>
              <a:solidFill>
                <a:schemeClr val="dk1"/>
              </a:solidFill>
            </a:endParaRPr>
          </a:p>
          <a:p>
            <a:pPr indent="457200" lvl="0" marL="0" rtl="0" algn="l">
              <a:spcBef>
                <a:spcPts val="0"/>
              </a:spcBef>
              <a:spcAft>
                <a:spcPts val="0"/>
              </a:spcAft>
              <a:buClr>
                <a:schemeClr val="dk1"/>
              </a:buClr>
              <a:buSzPts val="1100"/>
              <a:buFont typeface="Arial"/>
              <a:buNone/>
            </a:pPr>
            <a:r>
              <a:rPr lang="uk">
                <a:solidFill>
                  <a:schemeClr val="dk1"/>
                </a:solidFill>
              </a:rPr>
              <a:t>Під час роботи системи було перевірено коректність основних функцій, зокрема відображення замовлень і інформації про кур’єрів та формування маршрутів. Система демонструє працездатність у межах поставлених вимог.</a:t>
            </a:r>
            <a:endParaRPr>
              <a:solidFill>
                <a:schemeClr val="dk1"/>
              </a:solidFill>
            </a:endParaRPr>
          </a:p>
          <a:p>
            <a:pPr indent="457200" lvl="0" marL="0" rtl="0" algn="l">
              <a:spcBef>
                <a:spcPts val="0"/>
              </a:spcBef>
              <a:spcAft>
                <a:spcPts val="0"/>
              </a:spcAft>
              <a:buNone/>
            </a:pPr>
            <a:r>
              <a:rPr lang="uk">
                <a:solidFill>
                  <a:schemeClr val="dk1"/>
                </a:solidFill>
              </a:rPr>
              <a:t>Водночас слід зазначити, що реалізація має певні обмеження, пов’язані зі спрощенням алгоритму маршрутизації та неповною реалізацією життєвого циклу замовлення.</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uk"/>
              <a:t>Висновки</a:t>
            </a:r>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57200" lvl="0" marL="0" rtl="0" algn="l">
              <a:spcBef>
                <a:spcPts val="0"/>
              </a:spcBef>
              <a:spcAft>
                <a:spcPts val="0"/>
              </a:spcAft>
              <a:buNone/>
            </a:pPr>
            <a:r>
              <a:rPr lang="uk">
                <a:solidFill>
                  <a:schemeClr val="dk1"/>
                </a:solidFill>
              </a:rPr>
              <a:t>У результаті виконання комплексного курсового проєкту було розроблено програмну систему управління доставкою для кур'єрської служби. Система реалізує основні функції реєстрації та авторизації, відображення статусу кур’єрів і замовлень, а також розрахунок оптимального маршруту та вибору кур’єра для виконання замовлення.</a:t>
            </a:r>
            <a:endParaRPr>
              <a:solidFill>
                <a:schemeClr val="dk1"/>
              </a:solidFill>
            </a:endParaRPr>
          </a:p>
          <a:p>
            <a:pPr indent="457200" lvl="0" marL="0" rtl="0" algn="l">
              <a:spcBef>
                <a:spcPts val="0"/>
              </a:spcBef>
              <a:spcAft>
                <a:spcPts val="0"/>
              </a:spcAft>
              <a:buNone/>
            </a:pPr>
            <a:r>
              <a:rPr lang="uk">
                <a:solidFill>
                  <a:schemeClr val="dk1"/>
                </a:solidFill>
              </a:rPr>
              <a:t>Основні функціональні модулі працюють коректно та забезпечують відображення інформації про статус замовлення та кур’єрів. Водночас система має певні обмеження, пов’язані з частковою реалізацією окремих елементів  та неповною інтеграцією деяких підсистем у загальний процес роботи, незважаючи на їх наявність у програмному коді.</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